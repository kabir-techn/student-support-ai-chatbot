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2384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23840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2344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build/icons/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135514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STUDENT SUPPORT SERVICES CHATBOT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3063240"/>
            <a:ext cx="9994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Retrieval-Augmented Generation Assistant</a:t>
            </a:r>
            <a:endParaRPr lang="en-US" sz="34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Modern College Support Services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AI Internship — Capstone Project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81905" y="5623560"/>
            <a:ext cx="1828800" cy="16459"/>
          </a:xfrm>
          <a:prstGeom prst="rect">
            <a:avLst/>
          </a:prstGeom>
          <a:solidFill>
            <a:srgbClr val="1F4B5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Streamlit · LangChain · FAISS · Sentence-Transformers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Support Teams Are Overwhelmed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semester, support staff answer the same questions hundreds of times — while students wait hours or days for replies that should take seconds.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queries about admissions, fees, hostel, and exams consume staff hours daily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answers outside office hours — evenings, weekends, application deadlines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 when different staff members respond to the same question differently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B202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1764792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869680" y="1764792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instant answers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3172968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B202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33375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69680" y="33375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categories students ask about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4745736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B202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491032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869680" y="491032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inconsistent info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E7F2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build/icons/message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08" y="2097268"/>
            <a:ext cx="542056" cy="542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Natural Language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74520" y="24414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phrased casually, not just exact keyword matches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011680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_build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88" y="2097268"/>
            <a:ext cx="542056" cy="542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Instantly From Documents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15200" y="24414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response in the college's real, up-to-date documents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023360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x_build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08" y="4108948"/>
            <a:ext cx="542056" cy="542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959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Conversation Context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874520" y="445312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follow-up questions using recent chat history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7033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023360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x_build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388" y="4108948"/>
            <a:ext cx="542056" cy="542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959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Staff Workload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15200" y="445312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repetitive queries automatically, freeing staff for complex cases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Modular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x_build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2015703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880360"/>
            <a:ext cx="3008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584" y="194767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x_build/icons/message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615" y="2015703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532888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72584" y="2880360"/>
            <a:ext cx="3008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9056" y="194767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x_build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087" y="2015703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532888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49056" y="2880360"/>
            <a:ext cx="3008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16966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x_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43" y="4237695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754880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96112" y="5102352"/>
            <a:ext cx="3008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391363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</p:spPr>
      </p:sp>
      <p:sp>
        <p:nvSpPr>
          <p:cNvPr id="25" name="Shape 19"/>
          <p:cNvSpPr/>
          <p:nvPr/>
        </p:nvSpPr>
        <p:spPr>
          <a:xfrm>
            <a:off x="4672584" y="416966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pptx_build/icons/git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615" y="4237695"/>
            <a:ext cx="430865" cy="4308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4754880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72584" y="5102352"/>
            <a:ext cx="3008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93024" y="391363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9056" y="416966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pptx_build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087" y="4237695"/>
            <a:ext cx="430865" cy="4308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4754880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49056" y="5102352"/>
            <a:ext cx="3008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automated tests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Documents to a Cited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5480" y="18745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38632" y="18745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(PDF/DOCX/TXT/CSV)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61208" y="2299716"/>
            <a:ext cx="292608" cy="201168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7" name="Shape 5"/>
          <p:cNvSpPr/>
          <p:nvPr/>
        </p:nvSpPr>
        <p:spPr>
          <a:xfrm>
            <a:off x="3553816" y="18745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626968" y="18745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9544" y="2299716"/>
            <a:ext cx="292608" cy="201168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10" name="Shape 8"/>
          <p:cNvSpPr/>
          <p:nvPr/>
        </p:nvSpPr>
        <p:spPr>
          <a:xfrm>
            <a:off x="6242152" y="18745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15304" y="18745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37880" y="2299716"/>
            <a:ext cx="292608" cy="201168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930488" y="18745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003640" y="18745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58688" y="2971800"/>
            <a:ext cx="274320" cy="658368"/>
          </a:xfrm>
          <a:prstGeom prst="downArrow">
            <a:avLst/>
          </a:prstGeom>
          <a:solidFill>
            <a:srgbClr val="5C7A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5480" y="37033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38632" y="37033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61208" y="4128516"/>
            <a:ext cx="292608" cy="201168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3816" y="37033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626968" y="37033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9544" y="4128516"/>
            <a:ext cx="292608" cy="201168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22" name="Shape 20"/>
          <p:cNvSpPr/>
          <p:nvPr/>
        </p:nvSpPr>
        <p:spPr>
          <a:xfrm>
            <a:off x="6242152" y="37033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15304" y="37033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(OpenAI/Ollama/Local)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37880" y="4128516"/>
            <a:ext cx="292608" cy="201168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8930488" y="3703320"/>
            <a:ext cx="2395728" cy="1051560"/>
          </a:xfrm>
          <a:prstGeom prst="roundRect">
            <a:avLst>
              <a:gd name="adj" fmla="val 7826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003640" y="370332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SQLite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grounded and traceable — the final answer always links back to a specific document and page.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(RAG)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build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83062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5577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trusting an LLM's memory — which can hallucinate confident, wrong answers — the system retrieves real passages from the college's own documents before generating a response, and instructs the model to answer only from that context.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720840" y="1737360"/>
            <a:ext cx="4846320" cy="1554480"/>
          </a:xfrm>
          <a:prstGeom prst="roundRect">
            <a:avLst>
              <a:gd name="adj" fmla="val 5882"/>
            </a:avLst>
          </a:prstGeom>
          <a:solidFill>
            <a:srgbClr val="FBEAEA"/>
          </a:solidFill>
          <a:ln/>
        </p:spPr>
      </p:sp>
      <p:sp>
        <p:nvSpPr>
          <p:cNvPr id="8" name="Text 5"/>
          <p:cNvSpPr/>
          <p:nvPr/>
        </p:nvSpPr>
        <p:spPr>
          <a:xfrm>
            <a:off x="6995160" y="19019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RAG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95160" y="230428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guesses from training data — may cite outdated or invented fee amounts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20840" y="3520440"/>
            <a:ext cx="4846320" cy="1554480"/>
          </a:xfrm>
          <a:prstGeom prst="roundRect">
            <a:avLst>
              <a:gd name="adj" fmla="val 5882"/>
            </a:avLst>
          </a:prstGeom>
          <a:solidFill>
            <a:srgbClr val="E7F2F1"/>
          </a:solidFill>
          <a:ln/>
        </p:spPr>
      </p:sp>
      <p:sp>
        <p:nvSpPr>
          <p:cNvPr id="11" name="Text 8"/>
          <p:cNvSpPr/>
          <p:nvPr/>
        </p:nvSpPr>
        <p:spPr>
          <a:xfrm>
            <a:off x="6995160" y="36850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RAG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95160" y="408736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only from the college's actual, current documents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Mode &amp; Semantic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pptx_build/icons/message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78490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are pre-answered and cached. New questions are matched by meaning, not exact wording — so phrasing doesn't need to match perfectly.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1148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B202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315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do I need to pay?”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7000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→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9926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fee structure?”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440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keywords — matched purely by semantic similarity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20840" y="1691640"/>
            <a:ext cx="4846320" cy="1170432"/>
          </a:xfrm>
          <a:prstGeom prst="roundRect">
            <a:avLst>
              <a:gd name="adj" fmla="val 7813"/>
            </a:avLst>
          </a:prstGeom>
          <a:solidFill>
            <a:srgbClr val="F1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1691640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0.97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86800" y="169164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— instant cached answer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720840" y="3063240"/>
            <a:ext cx="4846320" cy="1170432"/>
          </a:xfrm>
          <a:prstGeom prst="roundRect">
            <a:avLst>
              <a:gd name="adj" fmla="val 7813"/>
            </a:avLst>
          </a:prstGeom>
          <a:solidFill>
            <a:srgbClr val="F1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3063240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0.80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86800" y="306324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 — cached answer used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720840" y="4434840"/>
            <a:ext cx="4846320" cy="1170432"/>
          </a:xfrm>
          <a:prstGeom prst="roundRect">
            <a:avLst>
              <a:gd name="adj" fmla="val 7813"/>
            </a:avLst>
          </a:prstGeom>
          <a:solidFill>
            <a:srgbClr val="F1F7F7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4434840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0.80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686800" y="443484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through to full RAG pipeline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Scoring &amp; Source Citation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pptx_build/icons/shiel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78490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 transparent confidence score — the top document-match similarity. Below the threshold, the system declines rather than guesses.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0690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7F2F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79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hostel fee is Rs. 60,000 per year.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48006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800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94%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5349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fee_structure.pdf, page 1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20840" y="1691640"/>
            <a:ext cx="4846320" cy="1783080"/>
          </a:xfrm>
          <a:prstGeom prst="roundRect">
            <a:avLst>
              <a:gd name="adj" fmla="val 5128"/>
            </a:avLst>
          </a:prstGeom>
          <a:solidFill>
            <a:srgbClr val="F1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19202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6995160" y="2880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confidence threshold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20840" y="3703320"/>
            <a:ext cx="4846320" cy="1783080"/>
          </a:xfrm>
          <a:prstGeom prst="roundRect">
            <a:avLst>
              <a:gd name="adj" fmla="val 5128"/>
            </a:avLst>
          </a:prstGeom>
          <a:solidFill>
            <a:srgbClr val="F1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39319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6995160" y="4892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— every answer cites a source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Memory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build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78490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several turns of a conversation are kept per session and given to the model, so it can resolve references like “that” or “it” in follow-up questions.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60020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1F7F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600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hostel fee?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256032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2560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hostel fee is Rs. 60,000 per year.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52044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1F7F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35204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that include mess?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448056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44805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mess charges are billed separately at ~Rs. 4,500/month.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Pluggable LLM Providers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pptx_build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14941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generation step is swappable via one config value — the system works with zero API cost and fully offline if needed.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1F7F7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651760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3337560"/>
            <a:ext cx="2935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API. Highest fluency. Per-query cost, needs internet + API key.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16552" y="23774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E7F2F1"/>
          </a:solidFill>
          <a:ln/>
        </p:spPr>
      </p:sp>
      <p:sp>
        <p:nvSpPr>
          <p:cNvPr id="12" name="Shape 9"/>
          <p:cNvSpPr/>
          <p:nvPr/>
        </p:nvSpPr>
        <p:spPr>
          <a:xfrm>
            <a:off x="4690872" y="2651760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690872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09160" y="3337560"/>
            <a:ext cx="2935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local LLM (e.g. Llama 3). Free, private, no internet required.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93024" y="23774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1F7F7"/>
          </a:solidFill>
          <a:ln/>
        </p:spPr>
      </p:sp>
      <p:sp>
        <p:nvSpPr>
          <p:cNvPr id="16" name="Shape 13"/>
          <p:cNvSpPr/>
          <p:nvPr/>
        </p:nvSpPr>
        <p:spPr>
          <a:xfrm>
            <a:off x="8467344" y="2651760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8467344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Extractive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485632" y="3337560"/>
            <a:ext cx="2935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at all — returns a cited document excerpt directly. Zero hallucination risk.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pptx_build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83062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staff can manage the knowledge base and monitor usage without touching code.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20840" y="173736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delete PDF, DOCX, TXT, CSV documents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FAISS index rebuild after document changes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message volume, sessions, feedback ratio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questions, for spotting content gaps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full chat logs as CSV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Data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build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14941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SQLAlchemy ORM — swapping to PostgreSQL for production scale needs no code changes, only a config value.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2587752" cy="3108960"/>
          </a:xfrm>
          <a:prstGeom prst="roundRect">
            <a:avLst>
              <a:gd name="adj" fmla="val 3534"/>
            </a:avLst>
          </a:prstGeom>
          <a:solidFill>
            <a:srgbClr val="F1F7F7"/>
          </a:solidFill>
          <a:ln/>
        </p:spPr>
      </p:sp>
      <p:sp>
        <p:nvSpPr>
          <p:cNvPr id="8" name="Shape 5"/>
          <p:cNvSpPr/>
          <p:nvPr/>
        </p:nvSpPr>
        <p:spPr>
          <a:xfrm>
            <a:off x="896112" y="2651760"/>
            <a:ext cx="457200" cy="457200"/>
          </a:xfrm>
          <a:prstGeom prst="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" y="333756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chat_history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77824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question, answer, confidence score, source, and timestamp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47288" y="2377440"/>
            <a:ext cx="2587752" cy="3108960"/>
          </a:xfrm>
          <a:prstGeom prst="roundRect">
            <a:avLst>
              <a:gd name="adj" fmla="val 3534"/>
            </a:avLst>
          </a:prstGeom>
          <a:solidFill>
            <a:srgbClr val="F1F7F7"/>
          </a:solidFill>
          <a:ln/>
        </p:spPr>
      </p:sp>
      <p:sp>
        <p:nvSpPr>
          <p:cNvPr id="12" name="Shape 9"/>
          <p:cNvSpPr/>
          <p:nvPr/>
        </p:nvSpPr>
        <p:spPr>
          <a:xfrm>
            <a:off x="3703320" y="2651760"/>
            <a:ext cx="457200" cy="457200"/>
          </a:xfrm>
          <a:prstGeom prst="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3685032" y="333756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685032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/ 👎 ratings linked to each chat message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54496" y="2377440"/>
            <a:ext cx="2587752" cy="3108960"/>
          </a:xfrm>
          <a:prstGeom prst="roundRect">
            <a:avLst>
              <a:gd name="adj" fmla="val 3534"/>
            </a:avLst>
          </a:prstGeom>
          <a:solidFill>
            <a:srgbClr val="F1F7F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10528" y="2651760"/>
            <a:ext cx="457200" cy="457200"/>
          </a:xfrm>
          <a:prstGeom prst="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33756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faq_cache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92240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question → answer pairs for instant responses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061704" y="2377440"/>
            <a:ext cx="2587752" cy="3108960"/>
          </a:xfrm>
          <a:prstGeom prst="roundRect">
            <a:avLst>
              <a:gd name="adj" fmla="val 3534"/>
            </a:avLst>
          </a:prstGeom>
          <a:solidFill>
            <a:srgbClr val="F1F7F7"/>
          </a:solidFill>
          <a:ln/>
        </p:spPr>
      </p:sp>
      <p:sp>
        <p:nvSpPr>
          <p:cNvPr id="20" name="Shape 17"/>
          <p:cNvSpPr/>
          <p:nvPr/>
        </p:nvSpPr>
        <p:spPr>
          <a:xfrm>
            <a:off x="9317736" y="2651760"/>
            <a:ext cx="457200" cy="457200"/>
          </a:xfrm>
          <a:prstGeom prst="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9299448" y="333756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299448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 uploaded knowledge-base files and index status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Reliability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1965960"/>
            <a:ext cx="777240" cy="77724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6" name="Image 0" descr="/home/claude/pptx_build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909" y="205922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passing, offline-friendly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51960" y="17830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 across all 4 supported formats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FAISS build / search / persistence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edge cases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exact &amp; semantic matching thresholds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CRUD operations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FastAPI endpoint, including error cases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51960" y="47091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E7F2F1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470916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 are tested with a deterministic fake embedding function — verifying pipeline logic without depending on model downloads or network access.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Hallucination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ptx_build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08" y="2097268"/>
            <a:ext cx="542056" cy="542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Prompting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4231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explicitly instructed to answer only from retrieved context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01168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pptx_build/icons/shiel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88" y="2097268"/>
            <a:ext cx="542056" cy="542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Gating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4231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Low-similarity questions are declined instead of guessed at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02336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pptx_build/icons/message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08" y="4108948"/>
            <a:ext cx="542056" cy="542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959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Citation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74520" y="44348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names the exact document and page it came from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7033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02336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pptx_build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388" y="4108948"/>
            <a:ext cx="542056" cy="542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959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Fallback Mode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44348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zero-generation extractive mode with no hallucination risk at all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BEAE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/home/claude/pptx_build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0317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is keyword-based, not ML-driven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on API or admin endpoints yet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resets on server restart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retrieval-quality benchmarking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7F2F1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_build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20317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rate limiting, and role-based admin access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 for sharper retrieval precision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memory for multi-instance deployments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 for regional-language support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5486400" cy="5486400"/>
          </a:xfrm>
          <a:prstGeom prst="ellipse">
            <a:avLst/>
          </a:prstGeom>
          <a:solidFill>
            <a:srgbClr val="12384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389120"/>
            <a:ext cx="4572000" cy="4572000"/>
          </a:xfrm>
          <a:prstGeom prst="ellipse">
            <a:avLst/>
          </a:prstGeom>
          <a:solidFill>
            <a:srgbClr val="123840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8686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pptx_build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8376" y="97840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grounded, cited, confidence-aware assistant — built to reduce staff workload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give students instant, trustworthy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40968" y="40233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23840"/>
          </a:solidFill>
          <a:ln/>
        </p:spPr>
      </p:sp>
      <p:sp>
        <p:nvSpPr>
          <p:cNvPr id="9" name="Text 6"/>
          <p:cNvSpPr/>
          <p:nvPr/>
        </p:nvSpPr>
        <p:spPr>
          <a:xfrm>
            <a:off x="1340968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478128" y="4800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formats supported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32808" y="40233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23840"/>
          </a:solidFill>
          <a:ln/>
        </p:spPr>
      </p:sp>
      <p:sp>
        <p:nvSpPr>
          <p:cNvPr id="12" name="Text 9"/>
          <p:cNvSpPr/>
          <p:nvPr/>
        </p:nvSpPr>
        <p:spPr>
          <a:xfrm>
            <a:off x="4632808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769968" y="4800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24648" y="40233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23840"/>
          </a:solidFill>
          <a:ln/>
        </p:spPr>
      </p:sp>
      <p:sp>
        <p:nvSpPr>
          <p:cNvPr id="15" name="Text 12"/>
          <p:cNvSpPr/>
          <p:nvPr/>
        </p:nvSpPr>
        <p:spPr>
          <a:xfrm>
            <a:off x="7924648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061808" y="4800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supported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2026-07-12T12:10:56Z</dcterms:created>
  <dcterms:modified xsi:type="dcterms:W3CDTF">2026-07-12T12:10:56Z</dcterms:modified>
</cp:coreProperties>
</file>